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Urbanist SemiBold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UrbanistSemiBold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SemiBold-italic.fntdata"/><Relationship Id="rId25" Type="http://schemas.openxmlformats.org/officeDocument/2006/relationships/font" Target="fonts/UrbanistSemiBold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43b3ef4a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43b3ef4a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d9c520e2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d9c520e2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e2603d6f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e2603d6f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d9c520e2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d9c520e2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Multivariate Imputation by Chained Equations.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PMM &lt;- </a:t>
            </a:r>
            <a:r>
              <a:rPr lang="en"/>
              <a:t>matches</a:t>
            </a:r>
            <a:r>
              <a:rPr lang="en"/>
              <a:t> observed values to predicted values from a regression model. It selects a value from the observed data that is closest to the predicted value for the missing data,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e2603d6f5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e2603d6f5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MCAR (Missing Completely At Random)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Missingness is unrelated to any variables (observed or unobserved)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Implication: You can just delete missing cases (complete case analysis) without bias, though you lose power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Imputation: Any reasonable method works fine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 Data lost due to random equipment failure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MAR (Missing At Random)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Missingness depends on observed variables, not the missing values themselves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Implication: Complete case analysis is biased, but imputation using observed variables 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Imputation: Standard methods (multiple imputation, ML) are valid and can recover unbiased estimates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 Older people more likely to skip income questions, but among same-age people, missingness is random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 MNAR (Missing Not At Random)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Missingness depends on the unobserved (missing) values themselves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Implication: Standard imputation methods produce biased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Imputation: Need specialized methods (selection models, pattern mixture models) or sensitivity analyses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 High earners refuse to report income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e2603d6f5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e2603d6f5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MICE - Multivariate Imputation by Chained Equations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e2603d6f5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e2603d6f5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d9c520e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d9c520e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2c9aa5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e2c9aa5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e2c9aa5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e2c9aa5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rgbClr val="E7AE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Urbanist SemiBold"/>
              <a:buNone/>
              <a:defRPr b="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urier New"/>
              <a:buNone/>
              <a:defRPr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E7AE5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rgbClr val="E7AE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7AE53"/>
              </a:buClr>
              <a:buSzPts val="3200"/>
              <a:buFont typeface="Urbanist"/>
              <a:buNone/>
              <a:defRPr b="1" sz="3200">
                <a:solidFill>
                  <a:srgbClr val="E7AE5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Char char="●"/>
              <a:defRPr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○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■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○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■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●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○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■"/>
              <a:defRPr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omnicalculator.com/sports/elo" TargetMode="External"/><Relationship Id="rId4" Type="http://schemas.openxmlformats.org/officeDocument/2006/relationships/hyperlink" Target="https://stefvanbuuren.name/fimd/sec-pmm.html" TargetMode="External"/><Relationship Id="rId5" Type="http://schemas.openxmlformats.org/officeDocument/2006/relationships/hyperlink" Target="https://cran.r-project.org/web/packages/mice/refman/mice.html#mice" TargetMode="External"/><Relationship Id="rId6" Type="http://schemas.openxmlformats.org/officeDocument/2006/relationships/hyperlink" Target="https://centerstat.org/wp-content/uploads/2024/04/MISS-Note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idx="4294967295" type="ctrTitle"/>
          </p:nvPr>
        </p:nvSpPr>
        <p:spPr>
          <a:xfrm>
            <a:off x="0" y="4625800"/>
            <a:ext cx="2444100" cy="5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/>
              <a:t>Sakina Lord | STA478</a:t>
            </a:r>
            <a:endParaRPr sz="1600"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225" y="1321750"/>
            <a:ext cx="2791550" cy="2499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42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Matches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row is one match of a tournament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2005 - 2022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Day # of Tournament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Home &amp; Away Teams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Team lineups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Whether or not match was delayed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Home and Away Scores</a:t>
            </a:r>
            <a:endParaRPr/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765650" y="1152475"/>
            <a:ext cx="42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Players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row is one year of Top14 play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1084 different players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Birthday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Team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metrics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Matches played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Total time played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Penalty scores, Tries, Conversions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Red/yellow cards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4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Joined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row is one match/player combination with their metrics for that season and the outcome of the match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2005 - 2022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Day # of Tournament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Winning team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Score difference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Player metrics</a:t>
            </a:r>
            <a:endParaRPr/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192875" y="2922875"/>
            <a:ext cx="4473000" cy="16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Missing stats for 102,854 players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~70% of rows have 11 fields missing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Imputation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1012075" y="1152475"/>
            <a:ext cx="1415400" cy="1025100"/>
          </a:xfrm>
          <a:prstGeom prst="rect">
            <a:avLst/>
          </a:prstGeom>
          <a:ln cap="flat" cmpd="sng" w="28575">
            <a:solidFill>
              <a:srgbClr val="E7AE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Diagnose Missingness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864300" y="1152475"/>
            <a:ext cx="1415400" cy="1025100"/>
          </a:xfrm>
          <a:prstGeom prst="rect">
            <a:avLst/>
          </a:prstGeom>
          <a:ln cap="flat" cmpd="sng" w="28575">
            <a:solidFill>
              <a:srgbClr val="E7AE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Select method &amp; Impute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6716525" y="1152475"/>
            <a:ext cx="1415400" cy="1025100"/>
          </a:xfrm>
          <a:prstGeom prst="rect">
            <a:avLst/>
          </a:prstGeom>
          <a:ln cap="flat" cmpd="sng" w="28575">
            <a:solidFill>
              <a:srgbClr val="E7AE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Assess imputed data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692275" y="2312600"/>
            <a:ext cx="2055000" cy="24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MNAR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MCAR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500"/>
              <a:t>Should</a:t>
            </a:r>
            <a:r>
              <a:rPr i="1" lang="en" sz="1500"/>
              <a:t> we impute?</a:t>
            </a:r>
            <a:endParaRPr i="1"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500"/>
              <a:t>What </a:t>
            </a:r>
            <a:r>
              <a:rPr b="1" i="1" lang="en" sz="1500"/>
              <a:t>method </a:t>
            </a:r>
            <a:r>
              <a:rPr i="1" lang="en" sz="1500"/>
              <a:t>should be used?</a:t>
            </a:r>
            <a:endParaRPr i="1" sz="1500"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382350" y="2335950"/>
            <a:ext cx="2379300" cy="26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</a:t>
            </a:r>
            <a:r>
              <a:rPr i="1" lang="en"/>
              <a:t>mice</a:t>
            </a:r>
            <a:r>
              <a:rPr lang="en"/>
              <a:t> package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Random Forest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Predictive mean matching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Bayesian linear regression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Uses other predictors as predictors for a possible value for what is missing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6234575" y="2335950"/>
            <a:ext cx="2379300" cy="26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Variable distributions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Bivariate </a:t>
            </a:r>
            <a:r>
              <a:rPr lang="en"/>
              <a:t>relationships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Correlation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using mice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Check chain </a:t>
            </a:r>
            <a:r>
              <a:rPr lang="en"/>
              <a:t>convergence</a:t>
            </a:r>
            <a:r>
              <a:rPr lang="en"/>
              <a:t> </a:t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2763088" y="1552975"/>
            <a:ext cx="765600" cy="22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7AE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5615313" y="1552975"/>
            <a:ext cx="765600" cy="22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7AE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Diagnose Missingness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830250" y="1152475"/>
            <a:ext cx="14154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MAR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864300" y="1152475"/>
            <a:ext cx="14154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MCAR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6943200" y="1152475"/>
            <a:ext cx="14154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MNAR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6280650" y="4565325"/>
            <a:ext cx="2863500" cy="4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*Other types of missingness exist, but these are the big considerations when using </a:t>
            </a:r>
            <a:r>
              <a:rPr lang="en"/>
              <a:t>`mice` package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79200" y="2046175"/>
            <a:ext cx="23175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Missingness depends on observed values, not on the missing values </a:t>
            </a:r>
            <a:r>
              <a:rPr lang="en"/>
              <a:t>themselves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Controlling for observed values shows missingness is random</a:t>
            </a:r>
            <a:endParaRPr i="1"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424351" y="2046175"/>
            <a:ext cx="23175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Missingnes is NOT related to other predictors or the response variable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Dropping missing rows will not bias the data</a:t>
            </a:r>
            <a:endParaRPr i="1"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6469500" y="2046175"/>
            <a:ext cx="2362800" cy="23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Missingness</a:t>
            </a:r>
            <a:r>
              <a:rPr lang="en"/>
              <a:t> depends on the </a:t>
            </a:r>
            <a:r>
              <a:rPr lang="en"/>
              <a:t>missing</a:t>
            </a:r>
            <a:r>
              <a:rPr lang="en"/>
              <a:t> values themselves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Systemic in how the data is gathered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method &amp; Impute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 rot="-5400000">
            <a:off x="-1422871" y="2622450"/>
            <a:ext cx="3915000" cy="4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Type of </a:t>
            </a:r>
            <a:r>
              <a:rPr lang="en"/>
              <a:t>Missingness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2536344" y="1911150"/>
            <a:ext cx="1415400" cy="6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Any method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6784994" y="1619400"/>
            <a:ext cx="1415400" cy="1904700"/>
          </a:xfrm>
          <a:prstGeom prst="rect">
            <a:avLst/>
          </a:prstGeom>
          <a:ln cap="flat" cmpd="sng" w="9525">
            <a:solidFill>
              <a:srgbClr val="E7AE5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mm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norm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polyreg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rf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2445744" y="2858100"/>
            <a:ext cx="1596600" cy="7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Multiple imputation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2536344" y="3930750"/>
            <a:ext cx="1415400" cy="6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Specialized methods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2536344" y="1065800"/>
            <a:ext cx="1415400" cy="6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Drop missing values</a:t>
            </a:r>
            <a:endParaRPr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6784994" y="730175"/>
            <a:ext cx="1415400" cy="7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mean imputation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6784994" y="3534919"/>
            <a:ext cx="1415400" cy="131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models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Sensitivity analysis</a:t>
            </a:r>
            <a:endParaRPr/>
          </a:p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6358900" y="300400"/>
            <a:ext cx="2473500" cy="5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*This is an incomplete list</a:t>
            </a:r>
            <a:endParaRPr sz="1100"/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**MICE - Multivariate Imputation by Chained Equations</a:t>
            </a:r>
            <a:endParaRPr sz="1100"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4869744" y="1567938"/>
            <a:ext cx="1415400" cy="7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Numeric target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869744" y="2789263"/>
            <a:ext cx="1415400" cy="7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Categorical target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689431" y="1391925"/>
            <a:ext cx="14154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MCAR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12856" y="2299925"/>
            <a:ext cx="14154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MAR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12844" y="3325025"/>
            <a:ext cx="14154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MNAR</a:t>
            </a:r>
            <a:endParaRPr/>
          </a:p>
        </p:txBody>
      </p:sp>
      <p:cxnSp>
        <p:nvCxnSpPr>
          <p:cNvPr id="119" name="Google Shape;119;p18"/>
          <p:cNvCxnSpPr>
            <a:endCxn id="110" idx="1"/>
          </p:cNvCxnSpPr>
          <p:nvPr/>
        </p:nvCxnSpPr>
        <p:spPr>
          <a:xfrm flipH="1" rot="10800000">
            <a:off x="2109744" y="1396100"/>
            <a:ext cx="426600" cy="516300"/>
          </a:xfrm>
          <a:prstGeom prst="straightConnector1">
            <a:avLst/>
          </a:prstGeom>
          <a:noFill/>
          <a:ln cap="flat" cmpd="sng" w="19050">
            <a:solidFill>
              <a:srgbClr val="E7AE5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8"/>
          <p:cNvCxnSpPr>
            <a:stCxn id="117" idx="3"/>
            <a:endCxn id="108" idx="1"/>
          </p:cNvCxnSpPr>
          <p:nvPr/>
        </p:nvCxnSpPr>
        <p:spPr>
          <a:xfrm>
            <a:off x="2128256" y="2812475"/>
            <a:ext cx="317400" cy="438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8"/>
          <p:cNvCxnSpPr>
            <a:stCxn id="116" idx="3"/>
            <a:endCxn id="106" idx="1"/>
          </p:cNvCxnSpPr>
          <p:nvPr/>
        </p:nvCxnSpPr>
        <p:spPr>
          <a:xfrm>
            <a:off x="2104831" y="1904475"/>
            <a:ext cx="431400" cy="336900"/>
          </a:xfrm>
          <a:prstGeom prst="straightConnector1">
            <a:avLst/>
          </a:prstGeom>
          <a:noFill/>
          <a:ln cap="flat" cmpd="sng" w="19050">
            <a:solidFill>
              <a:srgbClr val="E7AE5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8"/>
          <p:cNvCxnSpPr>
            <a:stCxn id="118" idx="3"/>
            <a:endCxn id="109" idx="1"/>
          </p:cNvCxnSpPr>
          <p:nvPr/>
        </p:nvCxnSpPr>
        <p:spPr>
          <a:xfrm>
            <a:off x="2128244" y="3837575"/>
            <a:ext cx="408000" cy="4236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8"/>
          <p:cNvCxnSpPr>
            <a:stCxn id="109" idx="3"/>
            <a:endCxn id="112" idx="1"/>
          </p:cNvCxnSpPr>
          <p:nvPr/>
        </p:nvCxnSpPr>
        <p:spPr>
          <a:xfrm flipH="1" rot="10800000">
            <a:off x="3951744" y="4192650"/>
            <a:ext cx="2833200" cy="684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8"/>
          <p:cNvCxnSpPr>
            <a:stCxn id="106" idx="3"/>
            <a:endCxn id="114" idx="1"/>
          </p:cNvCxnSpPr>
          <p:nvPr/>
        </p:nvCxnSpPr>
        <p:spPr>
          <a:xfrm flipH="1" rot="10800000">
            <a:off x="3951744" y="1960950"/>
            <a:ext cx="918000" cy="280500"/>
          </a:xfrm>
          <a:prstGeom prst="straightConnector1">
            <a:avLst/>
          </a:prstGeom>
          <a:noFill/>
          <a:ln cap="flat" cmpd="sng" w="19050">
            <a:solidFill>
              <a:srgbClr val="E7AE5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8"/>
          <p:cNvCxnSpPr>
            <a:stCxn id="114" idx="0"/>
            <a:endCxn id="111" idx="1"/>
          </p:cNvCxnSpPr>
          <p:nvPr/>
        </p:nvCxnSpPr>
        <p:spPr>
          <a:xfrm flipH="1" rot="10800000">
            <a:off x="5577444" y="1123338"/>
            <a:ext cx="1207500" cy="444600"/>
          </a:xfrm>
          <a:prstGeom prst="straightConnector1">
            <a:avLst/>
          </a:prstGeom>
          <a:noFill/>
          <a:ln cap="flat" cmpd="sng" w="19050">
            <a:solidFill>
              <a:srgbClr val="E7AE5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8"/>
          <p:cNvCxnSpPr>
            <a:stCxn id="114" idx="3"/>
          </p:cNvCxnSpPr>
          <p:nvPr/>
        </p:nvCxnSpPr>
        <p:spPr>
          <a:xfrm flipH="1" rot="10800000">
            <a:off x="6285144" y="1897788"/>
            <a:ext cx="880200" cy="63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8"/>
          <p:cNvCxnSpPr>
            <a:stCxn id="114" idx="3"/>
          </p:cNvCxnSpPr>
          <p:nvPr/>
        </p:nvCxnSpPr>
        <p:spPr>
          <a:xfrm>
            <a:off x="6285144" y="1961088"/>
            <a:ext cx="887700" cy="4275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8"/>
          <p:cNvCxnSpPr>
            <a:stCxn id="114" idx="3"/>
          </p:cNvCxnSpPr>
          <p:nvPr/>
        </p:nvCxnSpPr>
        <p:spPr>
          <a:xfrm>
            <a:off x="6285144" y="1961088"/>
            <a:ext cx="777600" cy="1299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8"/>
          <p:cNvCxnSpPr>
            <a:stCxn id="115" idx="3"/>
          </p:cNvCxnSpPr>
          <p:nvPr/>
        </p:nvCxnSpPr>
        <p:spPr>
          <a:xfrm flipH="1" rot="10800000">
            <a:off x="6285144" y="2806213"/>
            <a:ext cx="748500" cy="3762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8"/>
          <p:cNvCxnSpPr>
            <a:stCxn id="115" idx="3"/>
          </p:cNvCxnSpPr>
          <p:nvPr/>
        </p:nvCxnSpPr>
        <p:spPr>
          <a:xfrm>
            <a:off x="6285144" y="3182413"/>
            <a:ext cx="785100" cy="1221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8"/>
          <p:cNvCxnSpPr>
            <a:stCxn id="108" idx="3"/>
          </p:cNvCxnSpPr>
          <p:nvPr/>
        </p:nvCxnSpPr>
        <p:spPr>
          <a:xfrm flipH="1" rot="10800000">
            <a:off x="4042344" y="2124750"/>
            <a:ext cx="1078800" cy="11265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8"/>
          <p:cNvCxnSpPr>
            <a:stCxn id="108" idx="3"/>
            <a:endCxn id="115" idx="1"/>
          </p:cNvCxnSpPr>
          <p:nvPr/>
        </p:nvCxnSpPr>
        <p:spPr>
          <a:xfrm flipH="1" rot="10800000">
            <a:off x="4042344" y="3182550"/>
            <a:ext cx="827400" cy="687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8"/>
          <p:cNvSpPr txBox="1"/>
          <p:nvPr>
            <p:ph idx="1" type="body"/>
          </p:nvPr>
        </p:nvSpPr>
        <p:spPr>
          <a:xfrm rot="5400000">
            <a:off x="7386008" y="2370000"/>
            <a:ext cx="21699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Available</a:t>
            </a:r>
            <a:r>
              <a:rPr lang="en" sz="1400"/>
              <a:t> with MICE**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 imputed data</a:t>
            </a:r>
            <a:endParaRPr/>
          </a:p>
        </p:txBody>
      </p:sp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191125" y="701818"/>
            <a:ext cx="25509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Correlation Structure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5517525" y="206825"/>
            <a:ext cx="25509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Distributions</a:t>
            </a:r>
            <a:endParaRPr/>
          </a:p>
        </p:txBody>
      </p:sp>
      <p:pic>
        <p:nvPicPr>
          <p:cNvPr id="141" name="Google Shape;141;p19"/>
          <p:cNvPicPr preferRelativeResize="0"/>
          <p:nvPr/>
        </p:nvPicPr>
        <p:blipFill rotWithShape="1">
          <a:blip r:embed="rId3">
            <a:alphaModFix/>
          </a:blip>
          <a:srcRect b="0" l="0" r="38153" t="11197"/>
          <a:stretch/>
        </p:blipFill>
        <p:spPr>
          <a:xfrm>
            <a:off x="6968500" y="1017462"/>
            <a:ext cx="1917900" cy="158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1471118"/>
            <a:ext cx="3829526" cy="167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2650" y="1017450"/>
            <a:ext cx="1917900" cy="158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 rotWithShape="1">
          <a:blip r:embed="rId3">
            <a:alphaModFix/>
          </a:blip>
          <a:srcRect b="32586" l="64641" r="3992" t="29672"/>
          <a:stretch/>
        </p:blipFill>
        <p:spPr>
          <a:xfrm>
            <a:off x="7913750" y="124400"/>
            <a:ext cx="972649" cy="6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2650" y="2819276"/>
            <a:ext cx="3275619" cy="210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2371262" y="3445238"/>
            <a:ext cx="25509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Chain Convergence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311700" y="1152475"/>
            <a:ext cx="465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- Predict whether the home team wins with 73%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K-fold CV shows: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15 = best number of parameters to 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7500 = best number of trees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Day of match -&gt; Most important predictor</a:t>
            </a:r>
            <a:endParaRPr/>
          </a:p>
        </p:txBody>
      </p:sp>
      <p:sp>
        <p:nvSpPr>
          <p:cNvPr id="152" name="Google Shape;152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</a:t>
            </a:r>
            <a:endParaRPr/>
          </a:p>
        </p:txBody>
      </p:sp>
      <p:pic>
        <p:nvPicPr>
          <p:cNvPr id="153" name="Google Shape;15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7075" y="1725425"/>
            <a:ext cx="2713825" cy="19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Interpretable</a:t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311700" y="1152475"/>
            <a:ext cx="460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Elastic Net predicting a home win.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2nd best performing model (after RF)</a:t>
            </a:r>
            <a:endParaRPr/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3374" y="627400"/>
            <a:ext cx="3399175" cy="40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Sas, W. (21 July, 2025). </a:t>
            </a:r>
            <a:r>
              <a:rPr i="1" lang="en"/>
              <a:t>Elo Calculator</a:t>
            </a:r>
            <a:r>
              <a:rPr lang="en"/>
              <a:t>. Omni Calculator </a:t>
            </a:r>
            <a:r>
              <a:rPr lang="en" u="sng">
                <a:solidFill>
                  <a:srgbClr val="E7AE5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https://www.omnicalculator.com/sports/elo</a:t>
            </a:r>
            <a:endParaRPr>
              <a:solidFill>
                <a:srgbClr val="E7AE5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Van Buuren, S. (2018). </a:t>
            </a:r>
            <a:r>
              <a:rPr i="1" lang="en"/>
              <a:t>Flexible Imputation of Missing Data</a:t>
            </a:r>
            <a:r>
              <a:rPr lang="en"/>
              <a:t> </a:t>
            </a:r>
            <a:r>
              <a:rPr lang="en" u="sng">
                <a:solidFill>
                  <a:srgbClr val="E7AE5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https://stefvanbuuren.name/fimd/sec-pmm.html</a:t>
            </a:r>
            <a:r>
              <a:rPr lang="en">
                <a:solidFill>
                  <a:srgbClr val="E7AE53"/>
                </a:solidFill>
              </a:rPr>
              <a:t> </a:t>
            </a:r>
            <a:endParaRPr>
              <a:solidFill>
                <a:srgbClr val="E7AE5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Buuren, S. (27 May, 2025).</a:t>
            </a:r>
            <a:r>
              <a:rPr i="1" lang="en"/>
              <a:t> Multivariate Imputation by Chained Equations</a:t>
            </a:r>
            <a:r>
              <a:rPr lang="en"/>
              <a:t>. </a:t>
            </a:r>
            <a:r>
              <a:rPr lang="en" u="sng">
                <a:solidFill>
                  <a:srgbClr val="E7AE53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https://cran.r-project.org/web/packages/mice/refman/mice.html#mice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Enders, C. (2024). </a:t>
            </a:r>
            <a:r>
              <a:rPr i="1" lang="en"/>
              <a:t>Modern Missing Data Analysis. </a:t>
            </a:r>
            <a:r>
              <a:rPr lang="en"/>
              <a:t>CenterStat. [Lecture Notes] </a:t>
            </a:r>
            <a:r>
              <a:rPr lang="en" u="sng">
                <a:solidFill>
                  <a:srgbClr val="E7AE53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https://centerstat.org/wp-content/uploads/2024/04/MISS-Notes.pdf</a:t>
            </a:r>
            <a:r>
              <a:rPr lang="en">
                <a:solidFill>
                  <a:srgbClr val="E7AE53"/>
                </a:solidFill>
              </a:rPr>
              <a:t> </a:t>
            </a:r>
            <a:endParaRPr>
              <a:solidFill>
                <a:srgbClr val="E7AE5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ISLR Version 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